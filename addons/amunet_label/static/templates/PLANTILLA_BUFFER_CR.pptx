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311" r:id="rId2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embeddedFontLst>
    <p:embeddedFont>
      <p:font typeface="Kollektif"/>
      <p:regular r:id="rId8"/>
      <p:bold r:id="rId9"/>
      <p:italic r:id="rId10"/>
      <p:boldItalic r:id="rId11"/>
    </p:embeddedFont>
    <p:embeddedFont>
      <p:font typeface="Now"/>
      <p:regular r:id="rId12"/>
      <p:bold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>
        <p:scale>
          <a:sx n="400" d="100"/>
          <a:sy n="400" d="100"/>
        </p:scale>
        <p:origin x="288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D5F8-7886-481A-93B2-8AEFCAC79255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C2715-8E7E-4085-A6D1-F06AC3C2FD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224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5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31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623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333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60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149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449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368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24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73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9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35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AF6A-84BB-2C21-BE6A-69BEF4E9F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079724A2-174A-7E78-AEB5-3A7303EA2B70}"/>
              </a:ext>
            </a:extLst>
          </p:cNvPr>
          <p:cNvSpPr/>
          <p:nvPr/>
        </p:nvSpPr>
        <p:spPr>
          <a:xfrm>
            <a:off x="175845" y="211014"/>
            <a:ext cx="9720000" cy="15120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410EAF3-8396-BE90-33DE-09028E1D7541}"/>
              </a:ext>
            </a:extLst>
          </p:cNvPr>
          <p:cNvGrpSpPr/>
          <p:nvPr/>
        </p:nvGrpSpPr>
        <p:grpSpPr>
          <a:xfrm>
            <a:off x="179606" y="211014"/>
            <a:ext cx="1800000" cy="1080000"/>
            <a:chOff x="175835" y="225671"/>
            <a:chExt cx="1800000" cy="1080000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71711C8B-0B0A-F106-D3F4-35A138CE70A7}"/>
                </a:ext>
              </a:extLst>
            </p:cNvPr>
            <p:cNvGrpSpPr/>
            <p:nvPr/>
          </p:nvGrpSpPr>
          <p:grpSpPr>
            <a:xfrm>
              <a:off x="175835" y="225671"/>
              <a:ext cx="1800000" cy="1080000"/>
              <a:chOff x="833362" y="1979982"/>
              <a:chExt cx="1800000" cy="1080000"/>
            </a:xfrm>
          </p:grpSpPr>
          <p:grpSp>
            <p:nvGrpSpPr>
              <p:cNvPr id="2214" name="Grupo 2213">
                <a:extLst>
                  <a:ext uri="{FF2B5EF4-FFF2-40B4-BE49-F238E27FC236}">
                    <a16:creationId xmlns:a16="http://schemas.microsoft.com/office/drawing/2014/main" id="{4D855B19-37F9-0B5C-E2BE-9B72E422CF5A}"/>
                  </a:ext>
                </a:extLst>
              </p:cNvPr>
              <p:cNvGrpSpPr/>
              <p:nvPr/>
            </p:nvGrpSpPr>
            <p:grpSpPr>
              <a:xfrm>
                <a:off x="833362" y="1979982"/>
                <a:ext cx="1800000" cy="1080000"/>
                <a:chOff x="7624558" y="922047"/>
                <a:chExt cx="1280248" cy="481378"/>
              </a:xfrm>
            </p:grpSpPr>
            <p:sp>
              <p:nvSpPr>
                <p:cNvPr id="2216" name="Freeform 2">
                  <a:extLst>
                    <a:ext uri="{FF2B5EF4-FFF2-40B4-BE49-F238E27FC236}">
                      <a16:creationId xmlns:a16="http://schemas.microsoft.com/office/drawing/2014/main" id="{5A7F9F1D-9A3E-8324-D44F-FC481F43B23D}"/>
                    </a:ext>
                  </a:extLst>
                </p:cNvPr>
                <p:cNvSpPr/>
                <p:nvPr/>
              </p:nvSpPr>
              <p:spPr>
                <a:xfrm>
                  <a:off x="7624558" y="922047"/>
                  <a:ext cx="1280248" cy="481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9968" h="361935">
                      <a:moveTo>
                        <a:pt x="0" y="0"/>
                      </a:moveTo>
                      <a:lnTo>
                        <a:pt x="849968" y="0"/>
                      </a:lnTo>
                      <a:lnTo>
                        <a:pt x="849968" y="361935"/>
                      </a:lnTo>
                      <a:lnTo>
                        <a:pt x="0" y="3619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2"/>
                  <a:stretch>
                    <a:fillRect l="-95588" t="-199699" r="-208483" b="-233807"/>
                  </a:stretch>
                </a:blipFill>
                <a:ln w="9525" cap="sq">
                  <a:solidFill>
                    <a:srgbClr val="1D70AE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2217" name="Freeform 3">
                  <a:extLst>
                    <a:ext uri="{FF2B5EF4-FFF2-40B4-BE49-F238E27FC236}">
                      <a16:creationId xmlns:a16="http://schemas.microsoft.com/office/drawing/2014/main" id="{21FB6DAD-C298-0FFC-4DEA-D65D3E3E1B5B}"/>
                    </a:ext>
                  </a:extLst>
                </p:cNvPr>
                <p:cNvSpPr/>
                <p:nvPr/>
              </p:nvSpPr>
              <p:spPr>
                <a:xfrm>
                  <a:off x="7688747" y="957345"/>
                  <a:ext cx="33759" cy="57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8" h="57747">
                      <a:moveTo>
                        <a:pt x="0" y="0"/>
                      </a:moveTo>
                      <a:lnTo>
                        <a:pt x="24518" y="0"/>
                      </a:lnTo>
                      <a:lnTo>
                        <a:pt x="24518" y="57746"/>
                      </a:lnTo>
                      <a:lnTo>
                        <a:pt x="0" y="577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2218" name="TextBox 6">
                  <a:extLst>
                    <a:ext uri="{FF2B5EF4-FFF2-40B4-BE49-F238E27FC236}">
                      <a16:creationId xmlns:a16="http://schemas.microsoft.com/office/drawing/2014/main" id="{89D92153-6E25-C1CF-25CE-A849AA408258}"/>
                    </a:ext>
                  </a:extLst>
                </p:cNvPr>
                <p:cNvSpPr txBox="1"/>
                <p:nvPr/>
              </p:nvSpPr>
              <p:spPr>
                <a:xfrm>
                  <a:off x="7878921" y="1229093"/>
                  <a:ext cx="404602" cy="41326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>
                    <a:lnSpc>
                      <a:spcPts val="669"/>
                    </a:lnSpc>
                  </a:pPr>
                  <a:r>
                    <a:rPr lang="es-MX" sz="750" noProof="0" dirty="0">
                      <a:solidFill>
                        <a:srgbClr val="000000"/>
                      </a:solidFill>
                      <a:latin typeface="Century Gothic Paneuropean Bold"/>
                      <a:ea typeface="Century Gothic Paneuropean Bold"/>
                      <a:cs typeface="Century Gothic Paneuropean Bold"/>
                      <a:sym typeface="Century Gothic Paneuropean Bold"/>
                    </a:rPr>
                    <a:t>{{LOT}}</a:t>
                  </a:r>
                </a:p>
              </p:txBody>
            </p:sp>
            <p:sp>
              <p:nvSpPr>
                <p:cNvPr id="2219" name="TextBox 8">
                  <a:extLst>
                    <a:ext uri="{FF2B5EF4-FFF2-40B4-BE49-F238E27FC236}">
                      <a16:creationId xmlns:a16="http://schemas.microsoft.com/office/drawing/2014/main" id="{F994CB8E-7AA6-DC9B-CC66-F9BC2EDE74A4}"/>
                    </a:ext>
                  </a:extLst>
                </p:cNvPr>
                <p:cNvSpPr txBox="1"/>
                <p:nvPr/>
              </p:nvSpPr>
              <p:spPr>
                <a:xfrm>
                  <a:off x="7719795" y="1050460"/>
                  <a:ext cx="1111041" cy="125122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655"/>
                    </a:lnSpc>
                  </a:pPr>
                  <a:r>
                    <a:rPr lang="es-MX" sz="1000" b="1" noProof="0" dirty="0">
                      <a:solidFill>
                        <a:srgbClr val="0F1316"/>
                      </a:solidFill>
                      <a:latin typeface="Century Gothic Paneuropean Bold"/>
                      <a:ea typeface="Century Gothic Paneuropean Bold"/>
                      <a:cs typeface="Century Gothic Paneuropean Bold"/>
                      <a:sym typeface="Century Gothic Paneuropean Bold"/>
                    </a:rPr>
                    <a:t>Buffer de Combo Respiratorio Influenza A y B + SARS-CoV-2 + RSV</a:t>
                  </a:r>
                </a:p>
              </p:txBody>
            </p:sp>
            <p:sp>
              <p:nvSpPr>
                <p:cNvPr id="2220" name="TextBox 9">
                  <a:extLst>
                    <a:ext uri="{FF2B5EF4-FFF2-40B4-BE49-F238E27FC236}">
                      <a16:creationId xmlns:a16="http://schemas.microsoft.com/office/drawing/2014/main" id="{53FB0401-CE14-9656-3A7C-E62349C94DC3}"/>
                    </a:ext>
                  </a:extLst>
                </p:cNvPr>
                <p:cNvSpPr txBox="1"/>
                <p:nvPr/>
              </p:nvSpPr>
              <p:spPr>
                <a:xfrm>
                  <a:off x="7719795" y="985985"/>
                  <a:ext cx="211076" cy="21921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268"/>
                    </a:lnSpc>
                    <a:spcBef>
                      <a:spcPct val="0"/>
                    </a:spcBef>
                  </a:pPr>
                  <a:r>
                    <a:rPr lang="es-MX" sz="600" noProof="0" dirty="0">
                      <a:solidFill>
                        <a:srgbClr val="000000"/>
                      </a:solidFill>
                      <a:latin typeface="Century Gothic Paneuropean"/>
                      <a:ea typeface="Century Gothic Paneuropean"/>
                      <a:cs typeface="Century Gothic Paneuropean"/>
                      <a:sym typeface="Century Gothic Paneuropean"/>
                    </a:rPr>
                    <a:t>2-30°C</a:t>
                  </a:r>
                </a:p>
              </p:txBody>
            </p:sp>
          </p:grpSp>
          <p:sp>
            <p:nvSpPr>
              <p:cNvPr id="2215" name="TextBox 6">
                <a:extLst>
                  <a:ext uri="{FF2B5EF4-FFF2-40B4-BE49-F238E27FC236}">
                    <a16:creationId xmlns:a16="http://schemas.microsoft.com/office/drawing/2014/main" id="{A25B37D8-F643-2696-B226-B96B94B1223E}"/>
                  </a:ext>
                </a:extLst>
              </p:cNvPr>
              <p:cNvSpPr txBox="1"/>
              <p:nvPr/>
            </p:nvSpPr>
            <p:spPr>
              <a:xfrm>
                <a:off x="957489" y="2668865"/>
                <a:ext cx="208456" cy="91051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669"/>
                  </a:lnSpc>
                </a:pPr>
                <a:r>
                  <a:rPr lang="es-MX" sz="700" b="1" noProof="0" dirty="0">
                    <a:solidFill>
                      <a:srgbClr val="000000"/>
                    </a:solidFill>
                    <a:latin typeface="Century Gothic Paneuropean Bold"/>
                    <a:ea typeface="Century Gothic Paneuropean Bold"/>
                    <a:cs typeface="Century Gothic Paneuropean Bold"/>
                    <a:sym typeface="Century Gothic Paneuropean Bold"/>
                  </a:rPr>
                  <a:t>LOT</a:t>
                </a:r>
              </a:p>
            </p:txBody>
          </p:sp>
        </p:grpSp>
        <p:sp>
          <p:nvSpPr>
            <p:cNvPr id="2209" name="TextBox 13">
              <a:extLst>
                <a:ext uri="{FF2B5EF4-FFF2-40B4-BE49-F238E27FC236}">
                  <a16:creationId xmlns:a16="http://schemas.microsoft.com/office/drawing/2014/main" id="{79EFCA88-346D-D32E-6BB2-F6553E019AB2}"/>
                </a:ext>
              </a:extLst>
            </p:cNvPr>
            <p:cNvSpPr txBox="1"/>
            <p:nvPr/>
          </p:nvSpPr>
          <p:spPr>
            <a:xfrm>
              <a:off x="994678" y="1040878"/>
              <a:ext cx="695613" cy="1696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32"/>
                </a:lnSpc>
              </a:pPr>
              <a:r>
                <a:rPr lang="es-MX" sz="750" noProof="0" dirty="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{{CADUCIDAD}}</a:t>
              </a:r>
            </a:p>
          </p:txBody>
        </p:sp>
        <p:sp>
          <p:nvSpPr>
            <p:cNvPr id="2210" name="Freeform 14">
              <a:extLst>
                <a:ext uri="{FF2B5EF4-FFF2-40B4-BE49-F238E27FC236}">
                  <a16:creationId xmlns:a16="http://schemas.microsoft.com/office/drawing/2014/main" id="{221C54BF-7628-484A-F47E-658F7A4F53B2}"/>
                </a:ext>
              </a:extLst>
            </p:cNvPr>
            <p:cNvSpPr/>
            <p:nvPr/>
          </p:nvSpPr>
          <p:spPr>
            <a:xfrm>
              <a:off x="869145" y="1086232"/>
              <a:ext cx="127836" cy="143878"/>
            </a:xfrm>
            <a:custGeom>
              <a:avLst/>
              <a:gdLst/>
              <a:ahLst/>
              <a:cxnLst/>
              <a:rect l="l" t="t" r="r" b="b"/>
              <a:pathLst>
                <a:path w="184114" h="197343">
                  <a:moveTo>
                    <a:pt x="0" y="0"/>
                  </a:moveTo>
                  <a:lnTo>
                    <a:pt x="184114" y="0"/>
                  </a:lnTo>
                  <a:lnTo>
                    <a:pt x="184114" y="197343"/>
                  </a:lnTo>
                  <a:lnTo>
                    <a:pt x="0" y="197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biLevel thresh="50000"/>
              </a:blip>
              <a:stretch>
                <a:fillRect l="-23278" t="-17131" r="-22699" b="-19060"/>
              </a:stretch>
            </a:blipFill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2211" name="TextBox 6">
              <a:extLst>
                <a:ext uri="{FF2B5EF4-FFF2-40B4-BE49-F238E27FC236}">
                  <a16:creationId xmlns:a16="http://schemas.microsoft.com/office/drawing/2014/main" id="{60C7F9F2-C630-8C06-7B24-0AD61989E5AE}"/>
                </a:ext>
              </a:extLst>
            </p:cNvPr>
            <p:cNvSpPr txBox="1"/>
            <p:nvPr/>
          </p:nvSpPr>
          <p:spPr>
            <a:xfrm>
              <a:off x="1572892" y="916565"/>
              <a:ext cx="300757" cy="944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69"/>
                </a:lnSpc>
              </a:pPr>
              <a:r>
                <a:rPr lang="es-MX" sz="750" noProof="0" dirty="0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500 µL</a:t>
              </a:r>
            </a:p>
          </p:txBody>
        </p:sp>
        <p:sp>
          <p:nvSpPr>
            <p:cNvPr id="2212" name="Freeform 28">
              <a:extLst>
                <a:ext uri="{FF2B5EF4-FFF2-40B4-BE49-F238E27FC236}">
                  <a16:creationId xmlns:a16="http://schemas.microsoft.com/office/drawing/2014/main" id="{C297D28D-88F9-2F74-F2D6-CB3B96818C94}"/>
                </a:ext>
              </a:extLst>
            </p:cNvPr>
            <p:cNvSpPr/>
            <p:nvPr/>
          </p:nvSpPr>
          <p:spPr>
            <a:xfrm>
              <a:off x="1377805" y="898841"/>
              <a:ext cx="220073" cy="122476"/>
            </a:xfrm>
            <a:custGeom>
              <a:avLst/>
              <a:gdLst/>
              <a:ahLst/>
              <a:cxnLst/>
              <a:rect l="l" t="t" r="r" b="b"/>
              <a:pathLst>
                <a:path w="293431" h="163301">
                  <a:moveTo>
                    <a:pt x="0" y="0"/>
                  </a:moveTo>
                  <a:lnTo>
                    <a:pt x="293431" y="0"/>
                  </a:lnTo>
                  <a:lnTo>
                    <a:pt x="293431" y="163301"/>
                  </a:lnTo>
                  <a:lnTo>
                    <a:pt x="0" y="1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2213" name="Rectángulo 2212">
              <a:extLst>
                <a:ext uri="{FF2B5EF4-FFF2-40B4-BE49-F238E27FC236}">
                  <a16:creationId xmlns:a16="http://schemas.microsoft.com/office/drawing/2014/main" id="{D8E2C6AD-66AA-B015-F586-1A3B68704846}"/>
                </a:ext>
              </a:extLst>
            </p:cNvPr>
            <p:cNvSpPr/>
            <p:nvPr/>
          </p:nvSpPr>
          <p:spPr>
            <a:xfrm>
              <a:off x="309736" y="901025"/>
              <a:ext cx="196301" cy="104579"/>
            </a:xfrm>
            <a:prstGeom prst="rect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09505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88FAD2-B7F9-4903-987D-CDD9A8C1D57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e175be-4b55-470b-b637-951ba24d42e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9417</TotalTime>
  <Words>24</Words>
  <Application>Microsoft Office PowerPoint</Application>
  <PresentationFormat>Personalizado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Century Gothic Paneuropean</vt:lpstr>
      <vt:lpstr>Century Gothic Paneuropean Bold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Mery</dc:creator>
  <cp:lastModifiedBy>Mery Olivares</cp:lastModifiedBy>
  <cp:revision>62</cp:revision>
  <dcterms:created xsi:type="dcterms:W3CDTF">2025-07-14T17:28:18Z</dcterms:created>
  <dcterms:modified xsi:type="dcterms:W3CDTF">2026-08-03T14:34:31Z</dcterms:modified>
</cp:coreProperties>
</file>